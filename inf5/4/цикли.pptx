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  <p:sldId id="265" r:id="rId7"/>
    <p:sldId id="262" r:id="rId8"/>
    <p:sldId id="260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05C4-2265-4949-8824-EF7103A780D8}" type="datetimeFigureOut">
              <a:rPr lang="ru-RU" smtClean="0"/>
              <a:t>пн 06.04.20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0079E-DE62-423D-A388-DDC26515B0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3531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05C4-2265-4949-8824-EF7103A780D8}" type="datetimeFigureOut">
              <a:rPr lang="ru-RU" smtClean="0"/>
              <a:t>пн 06.04.20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0079E-DE62-423D-A388-DDC26515B0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0546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05C4-2265-4949-8824-EF7103A780D8}" type="datetimeFigureOut">
              <a:rPr lang="ru-RU" smtClean="0"/>
              <a:t>пн 06.04.20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0079E-DE62-423D-A388-DDC26515B0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5158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05C4-2265-4949-8824-EF7103A780D8}" type="datetimeFigureOut">
              <a:rPr lang="ru-RU" smtClean="0"/>
              <a:t>пн 06.04.20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0079E-DE62-423D-A388-DDC26515B0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5481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05C4-2265-4949-8824-EF7103A780D8}" type="datetimeFigureOut">
              <a:rPr lang="ru-RU" smtClean="0"/>
              <a:t>пн 06.04.20</a:t>
            </a:fld>
            <a:endParaRPr lang="ru-RU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0079E-DE62-423D-A388-DDC26515B0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449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05C4-2265-4949-8824-EF7103A780D8}" type="datetimeFigureOut">
              <a:rPr lang="ru-RU" smtClean="0"/>
              <a:t>пн 06.04.20</a:t>
            </a:fld>
            <a:endParaRPr lang="ru-RU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0079E-DE62-423D-A388-DDC26515B0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3434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05C4-2265-4949-8824-EF7103A780D8}" type="datetimeFigureOut">
              <a:rPr lang="ru-RU" smtClean="0"/>
              <a:t>пн 06.04.20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0079E-DE62-423D-A388-DDC26515B0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7871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05C4-2265-4949-8824-EF7103A780D8}" type="datetimeFigureOut">
              <a:rPr lang="ru-RU" smtClean="0"/>
              <a:t>пн 06.04.20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0079E-DE62-423D-A388-DDC26515B0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3550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05C4-2265-4949-8824-EF7103A780D8}" type="datetimeFigureOut">
              <a:rPr lang="ru-RU" smtClean="0"/>
              <a:t>пн 06.04.20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0079E-DE62-423D-A388-DDC26515B0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652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05C4-2265-4949-8824-EF7103A780D8}" type="datetimeFigureOut">
              <a:rPr lang="ru-RU" smtClean="0"/>
              <a:t>пн 06.04.20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0079E-DE62-423D-A388-DDC26515B0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4397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305C4-2265-4949-8824-EF7103A780D8}" type="datetimeFigureOut">
              <a:rPr lang="ru-RU" smtClean="0"/>
              <a:t>пн 06.04.20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0079E-DE62-423D-A388-DDC26515B0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4791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6E305C4-2265-4949-8824-EF7103A780D8}" type="datetimeFigureOut">
              <a:rPr lang="ru-RU" smtClean="0"/>
              <a:t>пн 06.04.20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C950079E-DE62-423D-A388-DDC26515B0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474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studio.code.org/s/course3/stage/8/puzzle/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400" dirty="0" smtClean="0"/>
              <a:t>Ц</a:t>
            </a:r>
            <a:r>
              <a:rPr lang="uk-UA" sz="4400" dirty="0" err="1" smtClean="0"/>
              <a:t>икли</a:t>
            </a:r>
            <a:r>
              <a:rPr lang="uk-UA" sz="4400" dirty="0" smtClean="0"/>
              <a:t>: повторення задану кількість разів. Повторення до виконання умови. Алгоритми з циклами.</a:t>
            </a:r>
            <a:endParaRPr lang="ru-RU" sz="4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 smtClean="0"/>
              <a:t>Вчителі: </a:t>
            </a:r>
            <a:r>
              <a:rPr lang="uk-UA" dirty="0" err="1" smtClean="0"/>
              <a:t>Мацієвська</a:t>
            </a:r>
            <a:r>
              <a:rPr lang="uk-UA" dirty="0" smtClean="0"/>
              <a:t> А.В</a:t>
            </a:r>
            <a:r>
              <a:rPr lang="uk-UA" dirty="0" smtClean="0"/>
              <a:t>.</a:t>
            </a:r>
            <a:endParaRPr lang="ru-RU" dirty="0"/>
          </a:p>
        </p:txBody>
      </p:sp>
      <p:sp>
        <p:nvSpPr>
          <p:cNvPr id="6" name="7-конечная звезда 5"/>
          <p:cNvSpPr/>
          <p:nvPr/>
        </p:nvSpPr>
        <p:spPr>
          <a:xfrm>
            <a:off x="167424" y="811369"/>
            <a:ext cx="1545465" cy="1249251"/>
          </a:xfrm>
          <a:prstGeom prst="star7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4 клас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560" b="14515"/>
          <a:stretch/>
        </p:blipFill>
        <p:spPr>
          <a:xfrm flipH="1">
            <a:off x="9402432" y="1828800"/>
            <a:ext cx="2644104" cy="2962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793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Повторимо!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04873" y="275055"/>
            <a:ext cx="7315200" cy="848782"/>
          </a:xfrm>
        </p:spPr>
        <p:txBody>
          <a:bodyPr>
            <a:normAutofit/>
          </a:bodyPr>
          <a:lstStyle/>
          <a:p>
            <a:r>
              <a:rPr lang="uk-UA" sz="2400" dirty="0" smtClean="0"/>
              <a:t>Як називається алгоритм, який ти бачиш?</a:t>
            </a:r>
            <a:endParaRPr lang="ru-RU" sz="2400" dirty="0"/>
          </a:p>
        </p:txBody>
      </p:sp>
      <p:sp>
        <p:nvSpPr>
          <p:cNvPr id="4" name="Прямоугольная выноска 3"/>
          <p:cNvSpPr/>
          <p:nvPr/>
        </p:nvSpPr>
        <p:spPr>
          <a:xfrm>
            <a:off x="9317030" y="1123837"/>
            <a:ext cx="1803043" cy="1245876"/>
          </a:xfrm>
          <a:prstGeom prst="wedgeRectCallout">
            <a:avLst>
              <a:gd name="adj1" fmla="val -105833"/>
              <a:gd name="adj2" fmla="val -15029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Блок-схема алгоритму «Дзвінок з мобільного»</a:t>
            </a:r>
            <a:endParaRPr lang="ru-RU" dirty="0"/>
          </a:p>
        </p:txBody>
      </p:sp>
      <p:sp>
        <p:nvSpPr>
          <p:cNvPr id="5" name="Блок-схема: знак завершения 4"/>
          <p:cNvSpPr/>
          <p:nvPr/>
        </p:nvSpPr>
        <p:spPr>
          <a:xfrm>
            <a:off x="5164427" y="1123837"/>
            <a:ext cx="2459865" cy="510403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Початок</a:t>
            </a:r>
            <a:endParaRPr lang="ru-RU" dirty="0"/>
          </a:p>
        </p:txBody>
      </p:sp>
      <p:cxnSp>
        <p:nvCxnSpPr>
          <p:cNvPr id="7" name="Прямая со стрелкой 6"/>
          <p:cNvCxnSpPr>
            <a:stCxn id="5" idx="2"/>
          </p:cNvCxnSpPr>
          <p:nvPr/>
        </p:nvCxnSpPr>
        <p:spPr>
          <a:xfrm>
            <a:off x="6394360" y="1634240"/>
            <a:ext cx="6440" cy="310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5061397" y="1944710"/>
            <a:ext cx="2678806" cy="55379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Набрати номер</a:t>
            </a:r>
            <a:endParaRPr lang="ru-RU" dirty="0"/>
          </a:p>
        </p:txBody>
      </p:sp>
      <p:cxnSp>
        <p:nvCxnSpPr>
          <p:cNvPr id="10" name="Прямая со стрелкой 9"/>
          <p:cNvCxnSpPr/>
          <p:nvPr/>
        </p:nvCxnSpPr>
        <p:spPr>
          <a:xfrm>
            <a:off x="6391139" y="2498501"/>
            <a:ext cx="6440" cy="310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Ромб 11"/>
          <p:cNvSpPr/>
          <p:nvPr/>
        </p:nvSpPr>
        <p:spPr>
          <a:xfrm>
            <a:off x="5017928" y="2817786"/>
            <a:ext cx="2746421" cy="1003175"/>
          </a:xfrm>
          <a:prstGeom prst="diamond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З</a:t>
            </a:r>
            <a:r>
              <a:rPr lang="en-US" dirty="0" smtClean="0"/>
              <a:t>’</a:t>
            </a:r>
            <a:r>
              <a:rPr lang="uk-UA" dirty="0" smtClean="0"/>
              <a:t>єдналося?</a:t>
            </a:r>
            <a:endParaRPr lang="ru-RU" dirty="0"/>
          </a:p>
        </p:txBody>
      </p:sp>
      <p:sp>
        <p:nvSpPr>
          <p:cNvPr id="13" name="Стрелка углом 12"/>
          <p:cNvSpPr/>
          <p:nvPr/>
        </p:nvSpPr>
        <p:spPr>
          <a:xfrm rot="5400000">
            <a:off x="7615092" y="3390004"/>
            <a:ext cx="800102" cy="501588"/>
          </a:xfrm>
          <a:prstGeom prst="bentArrow">
            <a:avLst>
              <a:gd name="adj1" fmla="val 19865"/>
              <a:gd name="adj2" fmla="val 22432"/>
              <a:gd name="adj3" fmla="val 25000"/>
              <a:gd name="adj4" fmla="val 4118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Стрелка углом 13"/>
          <p:cNvSpPr/>
          <p:nvPr/>
        </p:nvSpPr>
        <p:spPr>
          <a:xfrm rot="5400000" flipV="1">
            <a:off x="4363867" y="3359342"/>
            <a:ext cx="745210" cy="562912"/>
          </a:xfrm>
          <a:prstGeom prst="bentArrow">
            <a:avLst>
              <a:gd name="adj1" fmla="val 15848"/>
              <a:gd name="adj2" fmla="val 25000"/>
              <a:gd name="adj3" fmla="val 25000"/>
              <a:gd name="adj4" fmla="val 414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75031" y="2884894"/>
            <a:ext cx="489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 smtClean="0"/>
              <a:t>ні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7624291" y="2844601"/>
            <a:ext cx="7029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 smtClean="0"/>
              <a:t>так</a:t>
            </a:r>
            <a:endParaRPr lang="ru-RU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3580326" y="4089066"/>
            <a:ext cx="2034863" cy="55379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Покласти трубку</a:t>
            </a:r>
            <a:endParaRPr lang="ru-RU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7248505" y="4089065"/>
            <a:ext cx="2034863" cy="55379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Говорити </a:t>
            </a:r>
            <a:endParaRPr lang="ru-RU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7248504" y="4961119"/>
            <a:ext cx="2034863" cy="92452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По закінченню розмови покласти трубку</a:t>
            </a:r>
            <a:endParaRPr lang="ru-RU" dirty="0"/>
          </a:p>
        </p:txBody>
      </p:sp>
      <p:cxnSp>
        <p:nvCxnSpPr>
          <p:cNvPr id="20" name="Прямая со стрелкой 19"/>
          <p:cNvCxnSpPr/>
          <p:nvPr/>
        </p:nvCxnSpPr>
        <p:spPr>
          <a:xfrm>
            <a:off x="8166278" y="4627624"/>
            <a:ext cx="6440" cy="310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>
            <a:stCxn id="17" idx="2"/>
          </p:cNvCxnSpPr>
          <p:nvPr/>
        </p:nvCxnSpPr>
        <p:spPr>
          <a:xfrm flipH="1">
            <a:off x="4597757" y="4642857"/>
            <a:ext cx="1" cy="14102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>
            <a:stCxn id="19" idx="2"/>
          </p:cNvCxnSpPr>
          <p:nvPr/>
        </p:nvCxnSpPr>
        <p:spPr>
          <a:xfrm flipH="1">
            <a:off x="8265935" y="5885645"/>
            <a:ext cx="1" cy="1904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>
            <a:off x="4597757" y="6053070"/>
            <a:ext cx="3668178" cy="230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29"/>
          <p:cNvCxnSpPr/>
          <p:nvPr/>
        </p:nvCxnSpPr>
        <p:spPr>
          <a:xfrm>
            <a:off x="6384698" y="6105962"/>
            <a:ext cx="6440" cy="310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Блок-схема: знак завершения 30"/>
          <p:cNvSpPr/>
          <p:nvPr/>
        </p:nvSpPr>
        <p:spPr>
          <a:xfrm>
            <a:off x="5297011" y="6446299"/>
            <a:ext cx="2201136" cy="320685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Кінець</a:t>
            </a:r>
            <a:endParaRPr lang="ru-RU" dirty="0"/>
          </a:p>
        </p:txBody>
      </p:sp>
      <p:sp>
        <p:nvSpPr>
          <p:cNvPr id="32" name="Скругленный прямоугольник 31"/>
          <p:cNvSpPr/>
          <p:nvPr/>
        </p:nvSpPr>
        <p:spPr>
          <a:xfrm>
            <a:off x="128789" y="4365960"/>
            <a:ext cx="3071612" cy="135906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sz="2800" i="1" dirty="0" smtClean="0">
                <a:solidFill>
                  <a:schemeClr val="accent6">
                    <a:lumMod val="75000"/>
                  </a:schemeClr>
                </a:solidFill>
              </a:rPr>
              <a:t>Алгоритм з розгалуженням!</a:t>
            </a:r>
            <a:endParaRPr lang="ru-RU" sz="2800" i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9929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730721"/>
          </a:xfrm>
        </p:spPr>
        <p:txBody>
          <a:bodyPr/>
          <a:lstStyle/>
          <a:p>
            <a:r>
              <a:rPr lang="uk-UA" dirty="0" smtClean="0"/>
              <a:t>Повторимо!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30631" y="284558"/>
            <a:ext cx="7315200" cy="539689"/>
          </a:xfrm>
        </p:spPr>
        <p:txBody>
          <a:bodyPr>
            <a:normAutofit/>
          </a:bodyPr>
          <a:lstStyle/>
          <a:p>
            <a:r>
              <a:rPr lang="uk-UA" sz="2400" dirty="0" smtClean="0"/>
              <a:t>Доповни алгоритм з розгалуженням до казки.</a:t>
            </a:r>
            <a:endParaRPr lang="ru-RU" sz="2400" dirty="0"/>
          </a:p>
        </p:txBody>
      </p:sp>
      <p:pic>
        <p:nvPicPr>
          <p:cNvPr id="2050" name="Picture 2" descr="Александр Пушкин - У лукоморья дуб зелёный. Полный текст и анализ ..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7" t="267"/>
          <a:stretch/>
        </p:blipFill>
        <p:spPr bwMode="auto">
          <a:xfrm flipH="1">
            <a:off x="100280" y="1944711"/>
            <a:ext cx="3192507" cy="4005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Блок-схема: знак завершения 3"/>
          <p:cNvSpPr/>
          <p:nvPr/>
        </p:nvSpPr>
        <p:spPr>
          <a:xfrm>
            <a:off x="5743977" y="965915"/>
            <a:ext cx="2678806" cy="425003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Початок</a:t>
            </a:r>
            <a:endParaRPr lang="ru-RU" dirty="0"/>
          </a:p>
        </p:txBody>
      </p:sp>
      <p:cxnSp>
        <p:nvCxnSpPr>
          <p:cNvPr id="6" name="Прямая со стрелкой 5"/>
          <p:cNvCxnSpPr>
            <a:stCxn id="4" idx="2"/>
          </p:cNvCxnSpPr>
          <p:nvPr/>
        </p:nvCxnSpPr>
        <p:spPr>
          <a:xfrm>
            <a:off x="7083380" y="1390918"/>
            <a:ext cx="12879" cy="244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5743977" y="1635617"/>
            <a:ext cx="2678806" cy="61818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Кіт ходить</a:t>
            </a:r>
            <a:endParaRPr lang="ru-RU" dirty="0"/>
          </a:p>
        </p:txBody>
      </p:sp>
      <p:cxnSp>
        <p:nvCxnSpPr>
          <p:cNvPr id="9" name="Прямая со стрелкой 8"/>
          <p:cNvCxnSpPr/>
          <p:nvPr/>
        </p:nvCxnSpPr>
        <p:spPr>
          <a:xfrm>
            <a:off x="7070501" y="2253803"/>
            <a:ext cx="12879" cy="244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Ромб 7"/>
          <p:cNvSpPr/>
          <p:nvPr/>
        </p:nvSpPr>
        <p:spPr>
          <a:xfrm>
            <a:off x="5615188" y="2498503"/>
            <a:ext cx="2962141" cy="1043188"/>
          </a:xfrm>
          <a:prstGeom prst="diamond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Іде наліво?</a:t>
            </a:r>
            <a:endParaRPr lang="ru-RU" dirty="0"/>
          </a:p>
        </p:txBody>
      </p:sp>
      <p:sp>
        <p:nvSpPr>
          <p:cNvPr id="11" name="Стрелка углом 10"/>
          <p:cNvSpPr/>
          <p:nvPr/>
        </p:nvSpPr>
        <p:spPr>
          <a:xfrm rot="5400000" flipV="1">
            <a:off x="4925709" y="3075829"/>
            <a:ext cx="816045" cy="562912"/>
          </a:xfrm>
          <a:prstGeom prst="bentArrow">
            <a:avLst>
              <a:gd name="adj1" fmla="val 15848"/>
              <a:gd name="adj2" fmla="val 25000"/>
              <a:gd name="adj3" fmla="val 25000"/>
              <a:gd name="adj4" fmla="val 414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Стрелка углом 11"/>
          <p:cNvSpPr/>
          <p:nvPr/>
        </p:nvSpPr>
        <p:spPr>
          <a:xfrm rot="5400000">
            <a:off x="8440838" y="3085753"/>
            <a:ext cx="816045" cy="543063"/>
          </a:xfrm>
          <a:prstGeom prst="bentArrow">
            <a:avLst>
              <a:gd name="adj1" fmla="val 15848"/>
              <a:gd name="adj2" fmla="val 25000"/>
              <a:gd name="adj3" fmla="val 25000"/>
              <a:gd name="adj4" fmla="val 414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54581" y="2540979"/>
            <a:ext cx="489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 smtClean="0"/>
              <a:t>ні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8564449" y="2519584"/>
            <a:ext cx="772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 smtClean="0"/>
              <a:t>так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8167355" y="3825653"/>
            <a:ext cx="1906074" cy="56667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sz="2400" b="1" dirty="0" smtClean="0"/>
              <a:t>?</a:t>
            </a:r>
            <a:endParaRPr lang="ru-RU" sz="2400" b="1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4546242" y="3843835"/>
            <a:ext cx="1906074" cy="56667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sz="2400" b="1" dirty="0" smtClean="0"/>
              <a:t>?</a:t>
            </a:r>
            <a:endParaRPr lang="ru-RU" sz="2400" b="1" dirty="0"/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5254581" y="4410506"/>
            <a:ext cx="0" cy="5092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8950815" y="4410506"/>
            <a:ext cx="0" cy="4834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5254581" y="4919730"/>
            <a:ext cx="36962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>
            <a:off x="7102698" y="4919730"/>
            <a:ext cx="0" cy="4636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Блок-схема: знак завершения 24"/>
          <p:cNvSpPr/>
          <p:nvPr/>
        </p:nvSpPr>
        <p:spPr>
          <a:xfrm>
            <a:off x="5898523" y="5428955"/>
            <a:ext cx="2678806" cy="425003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Кінець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662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730721"/>
          </a:xfrm>
        </p:spPr>
        <p:txBody>
          <a:bodyPr/>
          <a:lstStyle/>
          <a:p>
            <a:r>
              <a:rPr lang="uk-UA" dirty="0" smtClean="0"/>
              <a:t>Повторимо!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30631" y="284558"/>
            <a:ext cx="7315200" cy="539689"/>
          </a:xfrm>
        </p:spPr>
        <p:txBody>
          <a:bodyPr>
            <a:normAutofit/>
          </a:bodyPr>
          <a:lstStyle/>
          <a:p>
            <a:r>
              <a:rPr lang="uk-UA" sz="2400" dirty="0" smtClean="0"/>
              <a:t>Доповни алгоритм з розгалуженням до казки.</a:t>
            </a:r>
            <a:endParaRPr lang="ru-RU" sz="2400" dirty="0"/>
          </a:p>
        </p:txBody>
      </p:sp>
      <p:pic>
        <p:nvPicPr>
          <p:cNvPr id="2050" name="Picture 2" descr="Александр Пушкин - У лукоморья дуб зелёный. Полный текст и анализ ..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7" t="267"/>
          <a:stretch/>
        </p:blipFill>
        <p:spPr bwMode="auto">
          <a:xfrm flipH="1">
            <a:off x="100280" y="1944711"/>
            <a:ext cx="3192507" cy="4005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Блок-схема: знак завершения 3"/>
          <p:cNvSpPr/>
          <p:nvPr/>
        </p:nvSpPr>
        <p:spPr>
          <a:xfrm>
            <a:off x="5743977" y="965915"/>
            <a:ext cx="2678806" cy="425003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Початок</a:t>
            </a:r>
            <a:endParaRPr lang="ru-RU" dirty="0"/>
          </a:p>
        </p:txBody>
      </p:sp>
      <p:cxnSp>
        <p:nvCxnSpPr>
          <p:cNvPr id="6" name="Прямая со стрелкой 5"/>
          <p:cNvCxnSpPr>
            <a:stCxn id="4" idx="2"/>
          </p:cNvCxnSpPr>
          <p:nvPr/>
        </p:nvCxnSpPr>
        <p:spPr>
          <a:xfrm>
            <a:off x="7083380" y="1390918"/>
            <a:ext cx="12879" cy="244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5743977" y="1635617"/>
            <a:ext cx="2678806" cy="61818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Кіт ходить</a:t>
            </a:r>
            <a:endParaRPr lang="ru-RU" dirty="0"/>
          </a:p>
        </p:txBody>
      </p:sp>
      <p:cxnSp>
        <p:nvCxnSpPr>
          <p:cNvPr id="9" name="Прямая со стрелкой 8"/>
          <p:cNvCxnSpPr/>
          <p:nvPr/>
        </p:nvCxnSpPr>
        <p:spPr>
          <a:xfrm>
            <a:off x="7070501" y="2253803"/>
            <a:ext cx="12879" cy="244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Ромб 7"/>
          <p:cNvSpPr/>
          <p:nvPr/>
        </p:nvSpPr>
        <p:spPr>
          <a:xfrm>
            <a:off x="5615188" y="2498503"/>
            <a:ext cx="2962141" cy="1043188"/>
          </a:xfrm>
          <a:prstGeom prst="diamond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Іде наліво?</a:t>
            </a:r>
            <a:endParaRPr lang="ru-RU" dirty="0"/>
          </a:p>
        </p:txBody>
      </p:sp>
      <p:sp>
        <p:nvSpPr>
          <p:cNvPr id="11" name="Стрелка углом 10"/>
          <p:cNvSpPr/>
          <p:nvPr/>
        </p:nvSpPr>
        <p:spPr>
          <a:xfrm rot="5400000" flipV="1">
            <a:off x="4925709" y="3075829"/>
            <a:ext cx="816045" cy="562912"/>
          </a:xfrm>
          <a:prstGeom prst="bentArrow">
            <a:avLst>
              <a:gd name="adj1" fmla="val 15848"/>
              <a:gd name="adj2" fmla="val 25000"/>
              <a:gd name="adj3" fmla="val 25000"/>
              <a:gd name="adj4" fmla="val 414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Стрелка углом 11"/>
          <p:cNvSpPr/>
          <p:nvPr/>
        </p:nvSpPr>
        <p:spPr>
          <a:xfrm rot="5400000">
            <a:off x="8440838" y="3085753"/>
            <a:ext cx="816045" cy="543063"/>
          </a:xfrm>
          <a:prstGeom prst="bentArrow">
            <a:avLst>
              <a:gd name="adj1" fmla="val 15848"/>
              <a:gd name="adj2" fmla="val 25000"/>
              <a:gd name="adj3" fmla="val 25000"/>
              <a:gd name="adj4" fmla="val 4146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54581" y="2540979"/>
            <a:ext cx="489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 smtClean="0"/>
              <a:t>ні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8564449" y="2519584"/>
            <a:ext cx="772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 smtClean="0"/>
              <a:t>так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8167355" y="3825653"/>
            <a:ext cx="1906074" cy="56667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Пісню співає</a:t>
            </a:r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4546242" y="3843835"/>
            <a:ext cx="1906074" cy="56667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Казки розказує</a:t>
            </a:r>
            <a:endParaRPr lang="ru-RU" dirty="0"/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>
            <a:off x="5254581" y="4410506"/>
            <a:ext cx="0" cy="5092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8950815" y="4410506"/>
            <a:ext cx="0" cy="4834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5254581" y="4919730"/>
            <a:ext cx="36962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>
            <a:off x="7102698" y="4919730"/>
            <a:ext cx="0" cy="4636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Блок-схема: знак завершения 24"/>
          <p:cNvSpPr/>
          <p:nvPr/>
        </p:nvSpPr>
        <p:spPr>
          <a:xfrm>
            <a:off x="5898523" y="5428955"/>
            <a:ext cx="2678806" cy="425003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Кінець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3548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Циклічні процеси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75330" y="5088379"/>
            <a:ext cx="7315200" cy="977571"/>
          </a:xfrm>
        </p:spPr>
        <p:txBody>
          <a:bodyPr>
            <a:normAutofit/>
          </a:bodyPr>
          <a:lstStyle/>
          <a:p>
            <a:pPr algn="ctr"/>
            <a:r>
              <a:rPr lang="uk-UA" sz="2400" b="1" dirty="0" smtClean="0">
                <a:solidFill>
                  <a:schemeClr val="accent6">
                    <a:lumMod val="75000"/>
                  </a:schemeClr>
                </a:solidFill>
              </a:rPr>
              <a:t>Циклічними</a:t>
            </a:r>
            <a:r>
              <a:rPr lang="uk-UA" sz="2400" dirty="0" smtClean="0"/>
              <a:t> називають процеси, в яких дії  повторюються в одній і тій самій послідовності.</a:t>
            </a:r>
            <a:endParaRPr lang="ru-RU" sz="2400" dirty="0"/>
          </a:p>
        </p:txBody>
      </p:sp>
      <p:pic>
        <p:nvPicPr>
          <p:cNvPr id="5122" name="Picture 2" descr="ПОРИ РОКУ НА ЗЕМЛІ » Допомога учня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5330" y="618186"/>
            <a:ext cx="7216505" cy="4045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1776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Циклічні процеси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69268" y="451984"/>
            <a:ext cx="7315200" cy="861661"/>
          </a:xfrm>
        </p:spPr>
        <p:txBody>
          <a:bodyPr>
            <a:normAutofit/>
          </a:bodyPr>
          <a:lstStyle/>
          <a:p>
            <a:pPr algn="ctr"/>
            <a:r>
              <a:rPr lang="uk-UA" sz="2800" dirty="0" smtClean="0"/>
              <a:t>Зміна дня та ночі</a:t>
            </a:r>
            <a:endParaRPr lang="ru-RU" sz="2800" dirty="0"/>
          </a:p>
        </p:txBody>
      </p:sp>
      <p:pic>
        <p:nvPicPr>
          <p:cNvPr id="8194" name="Picture 2" descr="Солнце Смена дня - YouTub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3" t="4297" r="3649" b="3269"/>
          <a:stretch/>
        </p:blipFill>
        <p:spPr bwMode="auto">
          <a:xfrm>
            <a:off x="4475891" y="1661374"/>
            <a:ext cx="6101954" cy="45204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950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Циклічні процеси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77526" y="275056"/>
            <a:ext cx="7315200" cy="745751"/>
          </a:xfrm>
        </p:spPr>
        <p:txBody>
          <a:bodyPr/>
          <a:lstStyle/>
          <a:p>
            <a:r>
              <a:rPr lang="uk-UA" dirty="0" smtClean="0"/>
              <a:t>Циклічні процеси відбуваються у нашому житті та житті дорослих.</a:t>
            </a:r>
            <a:endParaRPr lang="ru-RU" dirty="0"/>
          </a:p>
        </p:txBody>
      </p:sp>
      <p:pic>
        <p:nvPicPr>
          <p:cNvPr id="6146" name="Picture 2" descr="Kids daily routine stock vector. Illustration of cute - 95990655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33" b="10059"/>
          <a:stretch/>
        </p:blipFill>
        <p:spPr bwMode="auto">
          <a:xfrm>
            <a:off x="4664122" y="1020807"/>
            <a:ext cx="5742008" cy="4545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Объект 2"/>
          <p:cNvSpPr txBox="1">
            <a:spLocks/>
          </p:cNvSpPr>
          <p:nvPr/>
        </p:nvSpPr>
        <p:spPr>
          <a:xfrm>
            <a:off x="4107199" y="5725020"/>
            <a:ext cx="7315200" cy="745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Char char="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18288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uk-UA" dirty="0" smtClean="0"/>
              <a:t>Кожного буднього дня ти зранку прокидаєшся, прибираєш постіль, </a:t>
            </a:r>
            <a:r>
              <a:rPr lang="uk-UA" dirty="0" err="1" smtClean="0"/>
              <a:t>вмиваєшся</a:t>
            </a:r>
            <a:r>
              <a:rPr lang="uk-UA" dirty="0" smtClean="0"/>
              <a:t>, робиш зарядку, снідаєш, вдягаєшся та йдеш до школи.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4564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dirty="0" smtClean="0"/>
              <a:t>Цикли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44551" y="168857"/>
            <a:ext cx="7315200" cy="990450"/>
          </a:xfrm>
        </p:spPr>
        <p:txBody>
          <a:bodyPr>
            <a:normAutofit/>
          </a:bodyPr>
          <a:lstStyle/>
          <a:p>
            <a:r>
              <a:rPr lang="uk-UA" sz="2400" dirty="0" smtClean="0"/>
              <a:t>Частина алгоритму, яка може повторюватися кілька разів, називається </a:t>
            </a:r>
            <a:r>
              <a:rPr lang="uk-UA" sz="2400" b="1" dirty="0" smtClean="0">
                <a:solidFill>
                  <a:schemeClr val="accent6">
                    <a:lumMod val="75000"/>
                  </a:schemeClr>
                </a:solidFill>
              </a:rPr>
              <a:t>циклом.</a:t>
            </a:r>
            <a:endParaRPr lang="ru-RU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Прямоугольная выноска 3"/>
          <p:cNvSpPr/>
          <p:nvPr/>
        </p:nvSpPr>
        <p:spPr>
          <a:xfrm>
            <a:off x="9317030" y="1123837"/>
            <a:ext cx="1803043" cy="1245876"/>
          </a:xfrm>
          <a:prstGeom prst="wedgeRectCallout">
            <a:avLst>
              <a:gd name="adj1" fmla="val -105833"/>
              <a:gd name="adj2" fmla="val -15029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Блок-схема алгоритму «Пересування у темряві»</a:t>
            </a:r>
            <a:endParaRPr lang="ru-RU" dirty="0"/>
          </a:p>
        </p:txBody>
      </p:sp>
      <p:sp>
        <p:nvSpPr>
          <p:cNvPr id="5" name="Блок-схема: знак завершения 4"/>
          <p:cNvSpPr/>
          <p:nvPr/>
        </p:nvSpPr>
        <p:spPr>
          <a:xfrm>
            <a:off x="5241700" y="1325590"/>
            <a:ext cx="2009105" cy="447540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Початок</a:t>
            </a:r>
            <a:endParaRPr lang="ru-RU" dirty="0"/>
          </a:p>
        </p:txBody>
      </p:sp>
      <p:cxnSp>
        <p:nvCxnSpPr>
          <p:cNvPr id="7" name="Прямая со стрелкой 6"/>
          <p:cNvCxnSpPr>
            <a:stCxn id="5" idx="2"/>
            <a:endCxn id="10" idx="0"/>
          </p:cNvCxnSpPr>
          <p:nvPr/>
        </p:nvCxnSpPr>
        <p:spPr>
          <a:xfrm>
            <a:off x="6246253" y="1773130"/>
            <a:ext cx="1" cy="467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4958366" y="2240924"/>
            <a:ext cx="2575775" cy="502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Крок вперед</a:t>
            </a:r>
            <a:endParaRPr lang="ru-RU" dirty="0"/>
          </a:p>
        </p:txBody>
      </p:sp>
      <p:cxnSp>
        <p:nvCxnSpPr>
          <p:cNvPr id="13" name="Прямая со стрелкой 12"/>
          <p:cNvCxnSpPr/>
          <p:nvPr/>
        </p:nvCxnSpPr>
        <p:spPr>
          <a:xfrm flipH="1">
            <a:off x="6233791" y="2743200"/>
            <a:ext cx="12462" cy="257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Ромб 13"/>
          <p:cNvSpPr/>
          <p:nvPr/>
        </p:nvSpPr>
        <p:spPr>
          <a:xfrm>
            <a:off x="4965431" y="3000777"/>
            <a:ext cx="2536720" cy="1481071"/>
          </a:xfrm>
          <a:prstGeom prst="diamond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Немає перешкод?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7263268" y="3210994"/>
            <a:ext cx="772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 smtClean="0"/>
              <a:t>так</a:t>
            </a:r>
            <a:endParaRPr lang="ru-RU" dirty="0"/>
          </a:p>
        </p:txBody>
      </p:sp>
      <p:cxnSp>
        <p:nvCxnSpPr>
          <p:cNvPr id="17" name="Прямая соединительная линия 16"/>
          <p:cNvCxnSpPr>
            <a:stCxn id="14" idx="3"/>
          </p:cNvCxnSpPr>
          <p:nvPr/>
        </p:nvCxnSpPr>
        <p:spPr>
          <a:xfrm flipV="1">
            <a:off x="7502151" y="3741312"/>
            <a:ext cx="43123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 flipV="1">
            <a:off x="7933386" y="1983347"/>
            <a:ext cx="0" cy="17579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 flipH="1" flipV="1">
            <a:off x="6336196" y="1967249"/>
            <a:ext cx="1597190" cy="16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379442" y="3371980"/>
            <a:ext cx="772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 smtClean="0"/>
              <a:t>ні</a:t>
            </a:r>
            <a:endParaRPr lang="ru-RU" dirty="0"/>
          </a:p>
        </p:txBody>
      </p:sp>
      <p:cxnSp>
        <p:nvCxnSpPr>
          <p:cNvPr id="31" name="Прямая соединительная линия 30"/>
          <p:cNvCxnSpPr/>
          <p:nvPr/>
        </p:nvCxnSpPr>
        <p:spPr>
          <a:xfrm flipH="1">
            <a:off x="4172755" y="3741312"/>
            <a:ext cx="7856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/>
          <p:nvPr/>
        </p:nvCxnSpPr>
        <p:spPr>
          <a:xfrm>
            <a:off x="4185634" y="3741312"/>
            <a:ext cx="0" cy="5988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Прямоугольник 33"/>
          <p:cNvSpPr/>
          <p:nvPr/>
        </p:nvSpPr>
        <p:spPr>
          <a:xfrm>
            <a:off x="3567445" y="4395850"/>
            <a:ext cx="1674255" cy="52388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Зупинка</a:t>
            </a:r>
            <a:endParaRPr lang="ru-RU" dirty="0"/>
          </a:p>
        </p:txBody>
      </p:sp>
      <p:cxnSp>
        <p:nvCxnSpPr>
          <p:cNvPr id="36" name="Прямая соединительная линия 35"/>
          <p:cNvCxnSpPr/>
          <p:nvPr/>
        </p:nvCxnSpPr>
        <p:spPr>
          <a:xfrm>
            <a:off x="4185634" y="4919730"/>
            <a:ext cx="0" cy="4765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/>
          <p:nvPr/>
        </p:nvCxnSpPr>
        <p:spPr>
          <a:xfrm>
            <a:off x="4172755" y="5396248"/>
            <a:ext cx="21634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/>
          <p:cNvCxnSpPr/>
          <p:nvPr/>
        </p:nvCxnSpPr>
        <p:spPr>
          <a:xfrm>
            <a:off x="6336196" y="5396248"/>
            <a:ext cx="0" cy="502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Блок-схема: знак завершения 40"/>
          <p:cNvSpPr/>
          <p:nvPr/>
        </p:nvSpPr>
        <p:spPr>
          <a:xfrm>
            <a:off x="5229238" y="5992829"/>
            <a:ext cx="2009105" cy="447540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Кінець</a:t>
            </a:r>
            <a:endParaRPr lang="ru-RU" dirty="0"/>
          </a:p>
        </p:txBody>
      </p:sp>
      <p:pic>
        <p:nvPicPr>
          <p:cNvPr id="3074" name="Picture 2" descr="Boy blindfolded walking alone | Premium Vect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7236" y="3000777"/>
            <a:ext cx="3290554" cy="3290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5825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dirty="0" smtClean="0"/>
              <a:t>Цикли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44551" y="168857"/>
            <a:ext cx="7315200" cy="990450"/>
          </a:xfrm>
        </p:spPr>
        <p:txBody>
          <a:bodyPr>
            <a:normAutofit/>
          </a:bodyPr>
          <a:lstStyle/>
          <a:p>
            <a:r>
              <a:rPr lang="uk-UA" sz="2400" dirty="0" smtClean="0"/>
              <a:t>Спробуй доповнити алгоритм.</a:t>
            </a:r>
            <a:endParaRPr lang="ru-RU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Прямоугольная выноска 3"/>
          <p:cNvSpPr/>
          <p:nvPr/>
        </p:nvSpPr>
        <p:spPr>
          <a:xfrm>
            <a:off x="9226878" y="444712"/>
            <a:ext cx="2364108" cy="1619363"/>
          </a:xfrm>
          <a:prstGeom prst="wedgeRectCallout">
            <a:avLst>
              <a:gd name="adj1" fmla="val -87311"/>
              <a:gd name="adj2" fmla="val -1105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Блок-схема алгоритму «Наповнити відро водою за допомогою банки»</a:t>
            </a:r>
            <a:endParaRPr lang="ru-RU" dirty="0"/>
          </a:p>
        </p:txBody>
      </p:sp>
      <p:sp>
        <p:nvSpPr>
          <p:cNvPr id="5" name="Блок-схема: знак завершения 4"/>
          <p:cNvSpPr/>
          <p:nvPr/>
        </p:nvSpPr>
        <p:spPr>
          <a:xfrm>
            <a:off x="5241700" y="1325590"/>
            <a:ext cx="2009105" cy="447540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Початок</a:t>
            </a:r>
            <a:endParaRPr lang="ru-RU" dirty="0"/>
          </a:p>
        </p:txBody>
      </p:sp>
      <p:cxnSp>
        <p:nvCxnSpPr>
          <p:cNvPr id="7" name="Прямая со стрелкой 6"/>
          <p:cNvCxnSpPr>
            <a:stCxn id="5" idx="2"/>
            <a:endCxn id="10" idx="0"/>
          </p:cNvCxnSpPr>
          <p:nvPr/>
        </p:nvCxnSpPr>
        <p:spPr>
          <a:xfrm>
            <a:off x="6246253" y="1773130"/>
            <a:ext cx="1" cy="467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4797592" y="2240924"/>
            <a:ext cx="2736550" cy="502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Наповнити банку водою</a:t>
            </a:r>
            <a:endParaRPr lang="ru-RU" dirty="0"/>
          </a:p>
        </p:txBody>
      </p:sp>
      <p:cxnSp>
        <p:nvCxnSpPr>
          <p:cNvPr id="13" name="Прямая со стрелкой 12"/>
          <p:cNvCxnSpPr/>
          <p:nvPr/>
        </p:nvCxnSpPr>
        <p:spPr>
          <a:xfrm flipH="1">
            <a:off x="6233791" y="2743200"/>
            <a:ext cx="12462" cy="257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Ромб 13"/>
          <p:cNvSpPr/>
          <p:nvPr/>
        </p:nvSpPr>
        <p:spPr>
          <a:xfrm>
            <a:off x="4958366" y="4044791"/>
            <a:ext cx="2536720" cy="912326"/>
          </a:xfrm>
          <a:prstGeom prst="diamond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sz="3200" b="1" dirty="0" smtClean="0"/>
              <a:t>?</a:t>
            </a:r>
            <a:endParaRPr lang="ru-RU" sz="32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7250805" y="4019918"/>
            <a:ext cx="772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 smtClean="0"/>
              <a:t>так</a:t>
            </a:r>
            <a:endParaRPr lang="ru-RU" dirty="0"/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 flipV="1">
            <a:off x="7435705" y="4507393"/>
            <a:ext cx="43123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 flipV="1">
            <a:off x="4172755" y="2007027"/>
            <a:ext cx="0" cy="2494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4172755" y="2007027"/>
            <a:ext cx="1976074" cy="18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71999" y="4042292"/>
            <a:ext cx="772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 smtClean="0"/>
              <a:t>ні</a:t>
            </a:r>
            <a:endParaRPr lang="ru-RU" dirty="0"/>
          </a:p>
        </p:txBody>
      </p:sp>
      <p:cxnSp>
        <p:nvCxnSpPr>
          <p:cNvPr id="31" name="Прямая соединительная линия 30"/>
          <p:cNvCxnSpPr/>
          <p:nvPr/>
        </p:nvCxnSpPr>
        <p:spPr>
          <a:xfrm flipH="1">
            <a:off x="4172755" y="4500954"/>
            <a:ext cx="7856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/>
          <p:nvPr/>
        </p:nvCxnSpPr>
        <p:spPr>
          <a:xfrm>
            <a:off x="7866940" y="4510433"/>
            <a:ext cx="0" cy="885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/>
          <p:nvPr/>
        </p:nvCxnSpPr>
        <p:spPr>
          <a:xfrm flipH="1">
            <a:off x="6336196" y="5396248"/>
            <a:ext cx="15307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/>
          <p:cNvCxnSpPr/>
          <p:nvPr/>
        </p:nvCxnSpPr>
        <p:spPr>
          <a:xfrm>
            <a:off x="6336196" y="5396248"/>
            <a:ext cx="0" cy="502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Блок-схема: знак завершения 40"/>
          <p:cNvSpPr/>
          <p:nvPr/>
        </p:nvSpPr>
        <p:spPr>
          <a:xfrm>
            <a:off x="5229238" y="5992829"/>
            <a:ext cx="2009105" cy="447540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Кінець</a:t>
            </a:r>
            <a:endParaRPr lang="ru-RU" dirty="0"/>
          </a:p>
        </p:txBody>
      </p:sp>
      <p:grpSp>
        <p:nvGrpSpPr>
          <p:cNvPr id="6" name="Группа 5"/>
          <p:cNvGrpSpPr/>
          <p:nvPr/>
        </p:nvGrpSpPr>
        <p:grpSpPr>
          <a:xfrm>
            <a:off x="8141575" y="2600998"/>
            <a:ext cx="3519161" cy="4096690"/>
            <a:chOff x="8141575" y="2600998"/>
            <a:chExt cx="3519161" cy="4096690"/>
          </a:xfrm>
        </p:grpSpPr>
        <p:pic>
          <p:nvPicPr>
            <p:cNvPr id="7170" name="Picture 2" descr="≡ Ведро металлическое nic желтое (NIC535057) – купить в Киеве ...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41575" y="3940935"/>
              <a:ext cx="2756753" cy="27567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72" name="Picture 4" descr="Банки 3 литра и меньшего объема стеклянные б/у купить в Республике ...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377" r="17183"/>
            <a:stretch/>
          </p:blipFill>
          <p:spPr bwMode="auto">
            <a:xfrm rot="14800708">
              <a:off x="10399409" y="2337508"/>
              <a:ext cx="997837" cy="15248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74" name="Picture 6" descr="Water Bottle Splash Png - Bottle Water Drop Png | Transparent PNG ...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5055" b="63349" l="5109" r="61196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23" t="5354" r="38135" b="38041"/>
            <a:stretch/>
          </p:blipFill>
          <p:spPr bwMode="auto">
            <a:xfrm rot="17960916">
              <a:off x="8614059" y="3375994"/>
              <a:ext cx="1690958" cy="11730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" name="Прямоугольник 26"/>
          <p:cNvSpPr/>
          <p:nvPr/>
        </p:nvSpPr>
        <p:spPr>
          <a:xfrm>
            <a:off x="4803786" y="3025289"/>
            <a:ext cx="2736550" cy="5720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Вилити воду з банки у відро</a:t>
            </a:r>
            <a:endParaRPr lang="ru-RU" dirty="0"/>
          </a:p>
        </p:txBody>
      </p:sp>
      <p:cxnSp>
        <p:nvCxnSpPr>
          <p:cNvPr id="28" name="Прямая со стрелкой 27"/>
          <p:cNvCxnSpPr/>
          <p:nvPr/>
        </p:nvCxnSpPr>
        <p:spPr>
          <a:xfrm>
            <a:off x="6225175" y="3527557"/>
            <a:ext cx="1" cy="467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2986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dirty="0" smtClean="0"/>
              <a:t>Цикли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44551" y="168857"/>
            <a:ext cx="7315200" cy="990450"/>
          </a:xfrm>
        </p:spPr>
        <p:txBody>
          <a:bodyPr>
            <a:normAutofit/>
          </a:bodyPr>
          <a:lstStyle/>
          <a:p>
            <a:r>
              <a:rPr lang="uk-UA" sz="2400" dirty="0" smtClean="0"/>
              <a:t>Спробуй доповнити алгоритм.</a:t>
            </a:r>
            <a:endParaRPr lang="ru-RU" sz="2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Прямоугольная выноска 3"/>
          <p:cNvSpPr/>
          <p:nvPr/>
        </p:nvSpPr>
        <p:spPr>
          <a:xfrm>
            <a:off x="9226878" y="444712"/>
            <a:ext cx="2364108" cy="1619363"/>
          </a:xfrm>
          <a:prstGeom prst="wedgeRectCallout">
            <a:avLst>
              <a:gd name="adj1" fmla="val -87311"/>
              <a:gd name="adj2" fmla="val -11052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Блок-схема алгоритму «Наповнити відро водою за допомогою банки»</a:t>
            </a:r>
            <a:endParaRPr lang="ru-RU" dirty="0"/>
          </a:p>
        </p:txBody>
      </p:sp>
      <p:sp>
        <p:nvSpPr>
          <p:cNvPr id="5" name="Блок-схема: знак завершения 4"/>
          <p:cNvSpPr/>
          <p:nvPr/>
        </p:nvSpPr>
        <p:spPr>
          <a:xfrm>
            <a:off x="5241700" y="1325590"/>
            <a:ext cx="2009105" cy="447540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Початок</a:t>
            </a:r>
            <a:endParaRPr lang="ru-RU" dirty="0"/>
          </a:p>
        </p:txBody>
      </p:sp>
      <p:cxnSp>
        <p:nvCxnSpPr>
          <p:cNvPr id="7" name="Прямая со стрелкой 6"/>
          <p:cNvCxnSpPr>
            <a:stCxn id="5" idx="2"/>
            <a:endCxn id="10" idx="0"/>
          </p:cNvCxnSpPr>
          <p:nvPr/>
        </p:nvCxnSpPr>
        <p:spPr>
          <a:xfrm>
            <a:off x="6246253" y="1773130"/>
            <a:ext cx="1" cy="467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4797592" y="2240924"/>
            <a:ext cx="2736550" cy="50227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Наповнити банку водою</a:t>
            </a:r>
            <a:endParaRPr lang="ru-RU" dirty="0"/>
          </a:p>
        </p:txBody>
      </p:sp>
      <p:cxnSp>
        <p:nvCxnSpPr>
          <p:cNvPr id="13" name="Прямая со стрелкой 12"/>
          <p:cNvCxnSpPr/>
          <p:nvPr/>
        </p:nvCxnSpPr>
        <p:spPr>
          <a:xfrm flipH="1">
            <a:off x="6233791" y="2743200"/>
            <a:ext cx="12462" cy="257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Ромб 13"/>
          <p:cNvSpPr/>
          <p:nvPr/>
        </p:nvSpPr>
        <p:spPr>
          <a:xfrm>
            <a:off x="4958366" y="4044791"/>
            <a:ext cx="2536720" cy="912326"/>
          </a:xfrm>
          <a:prstGeom prst="diamond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Відро повне?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7250805" y="4019918"/>
            <a:ext cx="772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 smtClean="0"/>
              <a:t>так</a:t>
            </a:r>
            <a:endParaRPr lang="ru-RU" dirty="0"/>
          </a:p>
        </p:txBody>
      </p:sp>
      <p:cxnSp>
        <p:nvCxnSpPr>
          <p:cNvPr id="17" name="Прямая соединительная линия 16"/>
          <p:cNvCxnSpPr/>
          <p:nvPr/>
        </p:nvCxnSpPr>
        <p:spPr>
          <a:xfrm flipV="1">
            <a:off x="7435705" y="4507393"/>
            <a:ext cx="431235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 flipV="1">
            <a:off x="4172755" y="2007027"/>
            <a:ext cx="0" cy="24941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>
            <a:off x="4172755" y="2007027"/>
            <a:ext cx="1976074" cy="18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571999" y="4042292"/>
            <a:ext cx="772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 smtClean="0"/>
              <a:t>ні</a:t>
            </a:r>
            <a:endParaRPr lang="ru-RU" dirty="0"/>
          </a:p>
        </p:txBody>
      </p:sp>
      <p:cxnSp>
        <p:nvCxnSpPr>
          <p:cNvPr id="31" name="Прямая соединительная линия 30"/>
          <p:cNvCxnSpPr/>
          <p:nvPr/>
        </p:nvCxnSpPr>
        <p:spPr>
          <a:xfrm flipH="1">
            <a:off x="4172755" y="4500954"/>
            <a:ext cx="7856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/>
          <p:nvPr/>
        </p:nvCxnSpPr>
        <p:spPr>
          <a:xfrm>
            <a:off x="7866940" y="4510433"/>
            <a:ext cx="0" cy="8858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/>
          <p:nvPr/>
        </p:nvCxnSpPr>
        <p:spPr>
          <a:xfrm flipH="1">
            <a:off x="6336196" y="5396248"/>
            <a:ext cx="153074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/>
          <p:cNvCxnSpPr/>
          <p:nvPr/>
        </p:nvCxnSpPr>
        <p:spPr>
          <a:xfrm>
            <a:off x="6336196" y="5396248"/>
            <a:ext cx="0" cy="502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Блок-схема: знак завершения 40"/>
          <p:cNvSpPr/>
          <p:nvPr/>
        </p:nvSpPr>
        <p:spPr>
          <a:xfrm>
            <a:off x="5229238" y="5992829"/>
            <a:ext cx="2009105" cy="447540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Кінець</a:t>
            </a:r>
            <a:endParaRPr lang="ru-RU" dirty="0"/>
          </a:p>
        </p:txBody>
      </p:sp>
      <p:grpSp>
        <p:nvGrpSpPr>
          <p:cNvPr id="6" name="Группа 5"/>
          <p:cNvGrpSpPr/>
          <p:nvPr/>
        </p:nvGrpSpPr>
        <p:grpSpPr>
          <a:xfrm>
            <a:off x="8141575" y="2600998"/>
            <a:ext cx="3519161" cy="4096690"/>
            <a:chOff x="8141575" y="2600998"/>
            <a:chExt cx="3519161" cy="4096690"/>
          </a:xfrm>
        </p:grpSpPr>
        <p:pic>
          <p:nvPicPr>
            <p:cNvPr id="7170" name="Picture 2" descr="≡ Ведро металлическое nic желтое (NIC535057) – купить в Киеве ...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41575" y="3940935"/>
              <a:ext cx="2756753" cy="27567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72" name="Picture 4" descr="Банки 3 литра и меньшего объема стеклянные б/у купить в Республике ...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377" r="17183"/>
            <a:stretch/>
          </p:blipFill>
          <p:spPr bwMode="auto">
            <a:xfrm rot="14800708">
              <a:off x="10399409" y="2337508"/>
              <a:ext cx="997837" cy="15248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74" name="Picture 6" descr="Water Bottle Splash Png - Bottle Water Drop Png | Transparent PNG ...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5055" b="63349" l="5109" r="61196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23" t="5354" r="38135" b="38041"/>
            <a:stretch/>
          </p:blipFill>
          <p:spPr bwMode="auto">
            <a:xfrm rot="17960916">
              <a:off x="8614059" y="3375994"/>
              <a:ext cx="1690958" cy="11730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" name="Прямоугольник 26"/>
          <p:cNvSpPr/>
          <p:nvPr/>
        </p:nvSpPr>
        <p:spPr>
          <a:xfrm>
            <a:off x="4803786" y="3025289"/>
            <a:ext cx="2736550" cy="57206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uk-UA" dirty="0" smtClean="0"/>
              <a:t>Вилити воду з банки у відро</a:t>
            </a:r>
            <a:endParaRPr lang="ru-RU" dirty="0"/>
          </a:p>
        </p:txBody>
      </p:sp>
      <p:cxnSp>
        <p:nvCxnSpPr>
          <p:cNvPr id="28" name="Прямая со стрелкой 27"/>
          <p:cNvCxnSpPr/>
          <p:nvPr/>
        </p:nvCxnSpPr>
        <p:spPr>
          <a:xfrm>
            <a:off x="6225175" y="3527557"/>
            <a:ext cx="1" cy="467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8736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Працюємо за </a:t>
            </a:r>
            <a:r>
              <a:rPr lang="uk-UA" dirty="0" err="1" smtClean="0"/>
              <a:t>комп</a:t>
            </a:r>
            <a:r>
              <a:rPr lang="en-US" dirty="0" smtClean="0"/>
              <a:t>’</a:t>
            </a:r>
            <a:r>
              <a:rPr lang="uk-UA" dirty="0" err="1" smtClean="0"/>
              <a:t>ютером</a:t>
            </a:r>
            <a:r>
              <a:rPr lang="uk-UA" dirty="0" smtClean="0"/>
              <a:t>.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75330" y="5422006"/>
            <a:ext cx="7315200" cy="1116534"/>
          </a:xfrm>
        </p:spPr>
        <p:txBody>
          <a:bodyPr/>
          <a:lstStyle/>
          <a:p>
            <a:r>
              <a:rPr lang="uk-UA" sz="2400" dirty="0" smtClean="0"/>
              <a:t>Перейди за посиланням </a:t>
            </a:r>
            <a:r>
              <a:rPr lang="en-US" sz="2400" dirty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studio.code.org/s/course3/stage/8/puzzle/1</a:t>
            </a:r>
            <a:endParaRPr lang="uk-UA" sz="2400" dirty="0" smtClean="0"/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4400938" y="451205"/>
            <a:ext cx="6663984" cy="55399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  <a:prstDash val="lgDashDot"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uk-UA" sz="2000" dirty="0" smtClean="0"/>
              <a:t>Твоє завдання провести виконавця </a:t>
            </a:r>
            <a:r>
              <a:rPr lang="uk-UA" sz="2000" b="1" dirty="0" smtClean="0"/>
              <a:t>Зомбі</a:t>
            </a:r>
            <a:r>
              <a:rPr lang="uk-UA" sz="2000" dirty="0" smtClean="0"/>
              <a:t> до </a:t>
            </a:r>
            <a:r>
              <a:rPr lang="uk-UA" sz="2000" b="1" dirty="0" smtClean="0"/>
              <a:t>Квітки</a:t>
            </a:r>
            <a:r>
              <a:rPr lang="uk-UA" sz="2000" dirty="0" smtClean="0"/>
              <a:t>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41652" t="40449" r="42510" b="42121"/>
          <a:stretch/>
        </p:blipFill>
        <p:spPr>
          <a:xfrm>
            <a:off x="3513837" y="2835756"/>
            <a:ext cx="3438658" cy="21276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777147" y="1543094"/>
            <a:ext cx="3550932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000" dirty="0"/>
              <a:t>Якщо дія </a:t>
            </a:r>
            <a:r>
              <a:rPr lang="uk-UA" sz="2000" dirty="0" smtClean="0"/>
              <a:t>повторюється, </a:t>
            </a:r>
            <a:r>
              <a:rPr lang="uk-UA" sz="2000" dirty="0"/>
              <a:t>використовуй блок </a:t>
            </a:r>
            <a:r>
              <a:rPr lang="uk-UA" sz="2000" b="1" dirty="0"/>
              <a:t>Повторювати до …</a:t>
            </a:r>
            <a:endParaRPr lang="ru-RU" sz="2000" b="1" dirty="0"/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7676643" y="1543094"/>
            <a:ext cx="323176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000" dirty="0" smtClean="0"/>
              <a:t>Якщо слід перевірити умову, використовуй блок </a:t>
            </a:r>
            <a:r>
              <a:rPr lang="uk-UA" sz="2000" b="1" dirty="0" smtClean="0"/>
              <a:t>Якщо є шлях …</a:t>
            </a:r>
            <a:endParaRPr lang="ru-RU" sz="2000" b="1" dirty="0"/>
          </a:p>
          <a:p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 rotWithShape="1">
          <a:blip r:embed="rId4"/>
          <a:srcRect l="41950" t="44322" r="32512" b="31382"/>
          <a:stretch/>
        </p:blipFill>
        <p:spPr>
          <a:xfrm>
            <a:off x="7328079" y="2835756"/>
            <a:ext cx="4329527" cy="2315793"/>
          </a:xfrm>
          <a:prstGeom prst="rect">
            <a:avLst/>
          </a:prstGeom>
        </p:spPr>
      </p:pic>
      <p:sp>
        <p:nvSpPr>
          <p:cNvPr id="14" name="Стрелка вниз 13"/>
          <p:cNvSpPr/>
          <p:nvPr/>
        </p:nvSpPr>
        <p:spPr>
          <a:xfrm rot="1593561">
            <a:off x="10517163" y="3181694"/>
            <a:ext cx="568640" cy="978794"/>
          </a:xfrm>
          <a:prstGeom prst="down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5598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Рамка">
  <a:themeElements>
    <a:clrScheme name="Рамка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Рамка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Рамка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Рамка</Template>
  <TotalTime>90</TotalTime>
  <Words>293</Words>
  <Application>Microsoft Office PowerPoint</Application>
  <PresentationFormat>Широкоэкранный</PresentationFormat>
  <Paragraphs>78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Corbel</vt:lpstr>
      <vt:lpstr>Wingdings 2</vt:lpstr>
      <vt:lpstr>Рамка</vt:lpstr>
      <vt:lpstr>Цикли: повторення задану кількість разів. Повторення до виконання умови. Алгоритми з циклами.</vt:lpstr>
      <vt:lpstr>Повторимо!</vt:lpstr>
      <vt:lpstr>Повторимо!</vt:lpstr>
      <vt:lpstr>Повторимо!</vt:lpstr>
      <vt:lpstr>Циклічні процеси</vt:lpstr>
      <vt:lpstr>Циклічні процеси</vt:lpstr>
      <vt:lpstr>Циклічні процеси</vt:lpstr>
      <vt:lpstr>Цикли</vt:lpstr>
      <vt:lpstr>Цикли</vt:lpstr>
      <vt:lpstr>Цикли</vt:lpstr>
      <vt:lpstr>Працюємо за комп’ютером.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Цикли: повторення задану кількість разів. Повторення до виконання умови. Алгоритми з циклами.</dc:title>
  <dc:creator>Пользователь</dc:creator>
  <cp:lastModifiedBy>Пользователь</cp:lastModifiedBy>
  <cp:revision>11</cp:revision>
  <dcterms:created xsi:type="dcterms:W3CDTF">2020-03-30T11:55:14Z</dcterms:created>
  <dcterms:modified xsi:type="dcterms:W3CDTF">2020-04-06T13:16:39Z</dcterms:modified>
</cp:coreProperties>
</file>